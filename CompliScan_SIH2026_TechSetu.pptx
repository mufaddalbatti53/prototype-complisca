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8"/>
  </p:notesMasterIdLst>
  <p:sldIdLst>
    <p:sldId id="297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2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52" y="2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55906dc005f0ba0b" providerId="LiveId" clId="{1EEF09CF-1157-44B8-A383-CC79C80D607B}"/>
    <pc:docChg chg="addSld delSld modSld sldOrd">
      <pc:chgData name="" userId="55906dc005f0ba0b" providerId="LiveId" clId="{1EEF09CF-1157-44B8-A383-CC79C80D607B}" dt="2026-09-07T05:21:53.910" v="53" actId="20577"/>
      <pc:docMkLst>
        <pc:docMk/>
      </pc:docMkLst>
      <pc:sldChg chg="modSp">
        <pc:chgData name="" userId="55906dc005f0ba0b" providerId="LiveId" clId="{1EEF09CF-1157-44B8-A383-CC79C80D607B}" dt="2026-09-07T05:21:53.910" v="53" actId="20577"/>
        <pc:sldMkLst>
          <pc:docMk/>
          <pc:sldMk cId="3753387913" sldId="293"/>
        </pc:sldMkLst>
        <pc:spChg chg="mod">
          <ac:chgData name="" userId="55906dc005f0ba0b" providerId="LiveId" clId="{1EEF09CF-1157-44B8-A383-CC79C80D607B}" dt="2026-09-07T05:21:53.910" v="53" actId="20577"/>
          <ac:spMkLst>
            <pc:docMk/>
            <pc:sldMk cId="3753387913" sldId="293"/>
            <ac:spMk id="17411" creationId="{00000000-0000-0000-0000-000000000000}"/>
          </ac:spMkLst>
        </pc:spChg>
      </pc:sldChg>
      <pc:sldChg chg="modSp add ord setBg">
        <pc:chgData name="" userId="55906dc005f0ba0b" providerId="LiveId" clId="{1EEF09CF-1157-44B8-A383-CC79C80D607B}" dt="2026-09-02T06:56:05.831" v="39"/>
        <pc:sldMkLst>
          <pc:docMk/>
          <pc:sldMk cId="2564736640" sldId="297"/>
        </pc:sldMkLst>
        <pc:spChg chg="mod">
          <ac:chgData name="" userId="55906dc005f0ba0b" providerId="LiveId" clId="{1EEF09CF-1157-44B8-A383-CC79C80D607B}" dt="2026-08-30T07:42:18.436" v="37" actId="1076"/>
          <ac:spMkLst>
            <pc:docMk/>
            <pc:sldMk cId="2564736640" sldId="297"/>
            <ac:spMk id="10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01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72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08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5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55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35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08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72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8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83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804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50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prototype-complisca.vercel.app/" TargetMode="External"/><Relationship Id="rId5" Type="http://schemas.openxmlformats.org/officeDocument/2006/relationships/hyperlink" Target="https://github.com/mufaddalbatti53/prototype-complisca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prototype-complisca.vercel.app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prototype-complisca.vercel.app/" TargetMode="External"/><Relationship Id="rId5" Type="http://schemas.openxmlformats.org/officeDocument/2006/relationships/hyperlink" Target="https://github.com/mufaddalbatti53/prototype-complisca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consumeraffairs.gov.in/pages/legal-metrology-act" TargetMode="External"/><Relationship Id="rId5" Type="http://schemas.openxmlformats.org/officeDocument/2006/relationships/hyperlink" Target="https://consumeraffairs.gov.in" TargetMode="External"/><Relationship Id="rId6" Type="http://schemas.openxmlformats.org/officeDocument/2006/relationships/hyperlink" Target="https://github.com/PaddlePaddle/PaddleOCR" TargetMode="External"/><Relationship Id="rId7" Type="http://schemas.openxmlformats.org/officeDocument/2006/relationships/hyperlink" Target="https://ai.google.dev/gemini-api/docs" TargetMode="External"/><Relationship Id="rId8" Type="http://schemas.openxmlformats.org/officeDocument/2006/relationships/hyperlink" Target="https://fastapi.tiangolo.com" TargetMode="External"/><Relationship Id="rId9" Type="http://schemas.openxmlformats.org/officeDocument/2006/relationships/hyperlink" Target="https://supabase.com/docs" TargetMode="External"/><Relationship Id="rId10" Type="http://schemas.openxmlformats.org/officeDocument/2006/relationships/hyperlink" Target="https://consumeraffairs.nic.in" TargetMode="External"/><Relationship Id="rId11" Type="http://schemas.openxmlformats.org/officeDocument/2006/relationships/hyperlink" Target="https://ai.google.de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0211" y="1228830"/>
            <a:ext cx="6535523" cy="5629170"/>
          </a:xfrm>
          <a:prstGeom prst="rect">
            <a:avLst/>
          </a:prstGeom>
          <a:noFill/>
        </p:spPr>
        <p:txBody>
          <a:bodyPr wrap="square" rtlCol="0" tIns="91440" bIns="9144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350" b="1" u="none">
                <a:solidFill>
                  <a:srgbClr val="0B132B"/>
                </a:solidFill>
                <a:latin typeface="Arial"/>
              </a:rPr>
              <a:t>• Problem Statement ID — </a:t>
            </a:r>
            <a:r>
              <a:rPr sz="1350" b="1" u="none">
                <a:solidFill>
                  <a:srgbClr val="0284C7"/>
                </a:solidFill>
                <a:latin typeface="Arial"/>
              </a:rPr>
              <a:t>26034</a:t>
            </a:r>
            <a:endParaRPr lang="en-US" dirty="0"/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150" b="1" u="none">
                <a:solidFill>
                  <a:srgbClr val="0B132B"/>
                </a:solidFill>
                <a:latin typeface="Arial"/>
              </a:rPr>
              <a:t>• Problem Statement Title — </a:t>
            </a:r>
            <a:r>
              <a:rPr sz="1100" b="0" u="none">
                <a:solidFill>
                  <a:srgbClr val="1E293B"/>
                </a:solidFill>
                <a:latin typeface="Arial"/>
              </a:rPr>
              <a:t>Software System to check compliance of Packaged Commodities under Legal Metrology(Packaged Commodities) Rules, 2011 by scanning products, images and labels.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250" b="1" u="none">
                <a:solidFill>
                  <a:srgbClr val="0B132B"/>
                </a:solidFill>
                <a:latin typeface="Arial"/>
              </a:rPr>
              <a:t>• Theme — </a:t>
            </a:r>
            <a:r>
              <a:rPr sz="1250" b="0" u="none">
                <a:solidFill>
                  <a:srgbClr val="1E293B"/>
                </a:solidFill>
                <a:latin typeface="Arial"/>
              </a:rPr>
              <a:t>Miscellaneous    </a:t>
            </a:r>
            <a:r>
              <a:rPr sz="1250" b="1" u="none">
                <a:solidFill>
                  <a:srgbClr val="0B132B"/>
                </a:solidFill>
                <a:latin typeface="Arial"/>
              </a:rPr>
              <a:t>|  PS Category — </a:t>
            </a:r>
            <a:r>
              <a:rPr sz="1250" b="1" u="none">
                <a:solidFill>
                  <a:srgbClr val="0284C7"/>
                </a:solidFill>
                <a:latin typeface="Arial"/>
              </a:rPr>
              <a:t>Software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300" b="1" u="none">
                <a:solidFill>
                  <a:srgbClr val="0B132B"/>
                </a:solidFill>
                <a:latin typeface="Arial"/>
              </a:rPr>
              <a:t>• Team Name — </a:t>
            </a:r>
            <a:r>
              <a:rPr sz="1350" b="1" u="none">
                <a:solidFill>
                  <a:srgbClr val="0284C7"/>
                </a:solidFill>
                <a:latin typeface="Arial"/>
              </a:rPr>
              <a:t>TECH SETU    </a:t>
            </a:r>
            <a:r>
              <a:rPr sz="1300" b="1" u="none">
                <a:solidFill>
                  <a:srgbClr val="0B132B"/>
                </a:solidFill>
                <a:latin typeface="Arial"/>
              </a:rPr>
              <a:t>|  Product Name — </a:t>
            </a:r>
            <a:r>
              <a:rPr sz="1350" b="1" u="none">
                <a:solidFill>
                  <a:srgbClr val="059669"/>
                </a:solidFill>
                <a:latin typeface="Arial"/>
              </a:rPr>
              <a:t>CompliScan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200" b="1" u="none">
                <a:solidFill>
                  <a:srgbClr val="0B132B"/>
                </a:solidFill>
                <a:latin typeface="Arial"/>
              </a:rPr>
              <a:t>• Live Working Prototype — </a:t>
            </a:r>
            <a:r>
              <a:rPr sz="1200" b="1" u="sng">
                <a:solidFill>
                  <a:srgbClr val="0284C7"/>
                </a:solidFill>
                <a:latin typeface="Arial"/>
                <a:hlinkClick r:id="rId4"/>
              </a:rPr>
              <a:t>https://prototype-complisca.vercel.app/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150" b="1" u="none">
                <a:solidFill>
                  <a:srgbClr val="0B132B"/>
                </a:solidFill>
                <a:latin typeface="Arial"/>
              </a:rPr>
              <a:t>• GitHub Repository — </a:t>
            </a:r>
            <a:r>
              <a:rPr sz="1150" b="0" u="sng">
                <a:solidFill>
                  <a:srgbClr val="0284C7"/>
                </a:solidFill>
                <a:latin typeface="Arial"/>
                <a:hlinkClick r:id="rId5"/>
              </a:rPr>
              <a:t>https://github.com/mufaddalbatti53/prototype-complisca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100" b="1" u="none">
                <a:solidFill>
                  <a:srgbClr val="0B132B"/>
                </a:solidFill>
                <a:latin typeface="Arial"/>
              </a:rPr>
              <a:t>• Deployment Status — </a:t>
            </a:r>
            <a:r>
              <a:rPr sz="1050" b="1" u="none">
                <a:solidFill>
                  <a:srgbClr val="059669"/>
                </a:solidFill>
                <a:latin typeface="Arial"/>
              </a:rPr>
              <a:t>100% Operational &amp; Deployed Live  (IST Synced • Rule 6 &amp; 7 Table 1 Calibrated)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3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lIns="36576" rIns="36576" tIns="36576" bIns="36576"/>
          <a:lstStyle/>
          <a:p>
            <a:pPr eaLnBrk="1" hangingPunct="1">
              <a:lnSpc>
                <a:spcPct val="115000"/>
              </a:lnSpc>
              <a:spcAft>
                <a:spcPts val="250"/>
              </a:spcAft>
            </a:pPr>
            <a:r>
              <a:rPr sz="2800" b="1" u="none">
                <a:solidFill>
                  <a:srgbClr val="0B132B"/>
                </a:solidFill>
                <a:latin typeface="Arial"/>
              </a:rPr>
              <a:t>COMPLISCAN — AUTOMATED PACKAGING COMPLIANCE ENGINE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29184" y="1207008"/>
            <a:ext cx="5074920" cy="498348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63" name="Rectangle 15362"/>
          <p:cNvSpPr/>
          <p:nvPr/>
        </p:nvSpPr>
        <p:spPr>
          <a:xfrm>
            <a:off x="329184" y="1207008"/>
            <a:ext cx="82296" cy="49834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64" name="TextBox 15363"/>
          <p:cNvSpPr txBox="1"/>
          <p:nvPr/>
        </p:nvSpPr>
        <p:spPr>
          <a:xfrm>
            <a:off x="566928" y="1371600"/>
            <a:ext cx="4617720" cy="23955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1" u="none">
                <a:solidFill>
                  <a:srgbClr val="0284C7"/>
                </a:solidFill>
                <a:latin typeface="Arial"/>
              </a:rPr>
              <a:t>PROPOSED SOLUTION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400" b="1" u="none">
                <a:solidFill>
                  <a:srgbClr val="0B132B"/>
                </a:solidFill>
                <a:latin typeface="Arial"/>
              </a:rPr>
              <a:t>CompliScan: Automated Packaging Compliance Engine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050" b="1" u="none">
                <a:solidFill>
                  <a:srgbClr val="059669"/>
                </a:solidFill>
                <a:latin typeface="Arial"/>
              </a:rPr>
              <a:t>Snap a package. Get an official statutory compliance verdict in ~8–10 seconds.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50" b="0" u="none">
                <a:solidFill>
                  <a:srgbClr val="1E293B"/>
                </a:solidFill>
                <a:latin typeface="Arial"/>
              </a:rPr>
              <a:t>• Multi-Channel Ingestion: Audits retail goods via Smartphone Camera, high-res photo upload, or quick-commerce listing URLs (Amazon, Blinkit, Zepto, Flipkart).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50" b="0" u="none">
                <a:solidFill>
                  <a:srgbClr val="1E293B"/>
                </a:solidFill>
                <a:latin typeface="Arial"/>
              </a:rPr>
              <a:t>• Full Rule 6(1) Verification: Audits MRP, Net Quantity, Mfg/Exp Date, Unit Sale Price (USP), Consumer Care helplines, and Manufacturer/Packer addresses.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50" b="0" u="none">
                <a:solidFill>
                  <a:srgbClr val="1E293B"/>
                </a:solidFill>
                <a:latin typeface="Arial"/>
              </a:rPr>
              <a:t>• Centralized Officer Workbench: Real-time telemetry, digital evidence locker, Form 1 Seizure Notices, and 4-stage statutory aging buckets.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66928" y="4160520"/>
            <a:ext cx="459943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66" name="TextBox 15365"/>
          <p:cNvSpPr txBox="1"/>
          <p:nvPr/>
        </p:nvSpPr>
        <p:spPr>
          <a:xfrm>
            <a:off x="731520" y="4297680"/>
            <a:ext cx="4279392" cy="144655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1" u="none">
                <a:solidFill>
                  <a:srgbClr val="0B132B"/>
                </a:solidFill>
                <a:latin typeface="Arial"/>
              </a:rPr>
              <a:t>WHY WE ARE DIFFERENT — WE CHECK LEGAL RULES, NOT JUST TEXT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Rule 7 Table 1 Font Height: Computes Principal Display Panel (PDP) area in cm² and measures text height down to sub-millimeter precision against mandatory thresholds (1.0mm - 6.0mm).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Mandatory Phrasing &amp; Clauses: Validates 'MRP incl. of all taxes', 'Unit Sale Price', and standardized metric units under LMPC 2011.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Automated Legal Compounding: Pre-fills Form 1 Notice of Seizure and calculates compounding fines under Section 18 / 36 of Legal Metrology Act, 2009.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5623560" y="5943600"/>
            <a:ext cx="6263640" cy="2154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u="none">
                <a:solidFill>
                  <a:srgbClr val="0B132B"/>
                </a:solidFill>
                <a:latin typeface="Arial"/>
              </a:rPr>
              <a:t>Live Working Prototype: </a:t>
            </a:r>
            <a:r>
              <a:rPr sz="850" b="0" u="none">
                <a:solidFill>
                  <a:srgbClr val="475569"/>
                </a:solidFill>
                <a:latin typeface="Arial"/>
              </a:rPr>
              <a:t>Real-Time Viewfinder Scan + Legal Metrology Audit Workbench (~8–10s Pipeline) — </a:t>
            </a:r>
            <a:r>
              <a:rPr sz="850" b="1" u="sng">
                <a:solidFill>
                  <a:srgbClr val="0284C7"/>
                </a:solidFill>
                <a:latin typeface="Arial"/>
                <a:hlinkClick r:id="rId6"/>
              </a:rPr>
              <a:t>https://prototype-complisca.vercel.app/</a:t>
            </a:r>
          </a:p>
        </p:txBody>
      </p:sp>
      <p:pic>
        <p:nvPicPr>
          <p:cNvPr id="15369" name="Picture 15368" descr="prototype_live_show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1234440"/>
            <a:ext cx="6263640" cy="46768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SETU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11430000" cy="24622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spc="120" dirty="0">
                <a:solidFill>
                  <a:srgbClr val="028090"/>
                </a:solidFill>
                <a:latin typeface="Calibri"/>
              </a:rPr>
              <a:t>HOW IT WORKS — FROM PHOTO TO RESULT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444752"/>
            <a:ext cx="16916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3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444752"/>
            <a:ext cx="1691640" cy="384048"/>
          </a:xfrm>
          <a:prstGeom prst="roundRect">
            <a:avLst>
              <a:gd name="adj" fmla="val 3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1517904"/>
            <a:ext cx="1691640" cy="2154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50" b="1" u="none">
                <a:solidFill>
                  <a:srgbClr val="FFFFFF"/>
                </a:solidFill>
                <a:latin typeface="Arial"/>
              </a:rPr>
              <a:t>1. CAPTURE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70916" y="2099202"/>
            <a:ext cx="1545336" cy="67197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u="none">
                <a:solidFill>
                  <a:srgbClr val="0B132B"/>
                </a:solidFill>
                <a:latin typeface="Arial"/>
              </a:rPr>
              <a:t>React 18 + Vite PWA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00" b="0" u="none">
                <a:solidFill>
                  <a:srgbClr val="1E293B"/>
                </a:solidFill>
                <a:latin typeface="Arial"/>
              </a:rPr>
              <a:t>Camera with framing guide,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00" b="0" u="none">
                <a:solidFill>
                  <a:srgbClr val="1E293B"/>
                </a:solidFill>
                <a:latin typeface="Arial"/>
              </a:rPr>
              <a:t>photo upload, or URL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2130552" y="2299716"/>
            <a:ext cx="173736" cy="146304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2331720" y="1444752"/>
            <a:ext cx="16916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3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2331720" y="1444752"/>
            <a:ext cx="1691640" cy="384048"/>
          </a:xfrm>
          <a:prstGeom prst="roundRect">
            <a:avLst>
              <a:gd name="adj" fmla="val 3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2331720" y="1517904"/>
            <a:ext cx="1691640" cy="2154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50" b="1" u="none">
                <a:solidFill>
                  <a:srgbClr val="FFFFFF"/>
                </a:solidFill>
                <a:latin typeface="Arial"/>
              </a:rPr>
              <a:t>2. API GATEWAY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391156" y="2094308"/>
            <a:ext cx="1545336" cy="67197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u="none">
                <a:solidFill>
                  <a:srgbClr val="0B132B"/>
                </a:solidFill>
                <a:latin typeface="Arial"/>
              </a:rPr>
              <a:t>FastAPI Asynchronous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00" b="0" u="none">
                <a:solidFill>
                  <a:srgbClr val="1E293B"/>
                </a:solidFill>
                <a:latin typeface="Arial"/>
              </a:rPr>
              <a:t>Uvicorn ASGI, JWT auth,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00" b="0" u="none">
                <a:solidFill>
                  <a:srgbClr val="1E293B"/>
                </a:solidFill>
                <a:latin typeface="Arial"/>
              </a:rPr>
              <a:t>strict IST serialization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4050792" y="2299716"/>
            <a:ext cx="173736" cy="146304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1" name="Rounded Rectangle 17420"/>
          <p:cNvSpPr/>
          <p:nvPr/>
        </p:nvSpPr>
        <p:spPr>
          <a:xfrm>
            <a:off x="4251960" y="1444752"/>
            <a:ext cx="16916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3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2" name="Rounded Rectangle 17421"/>
          <p:cNvSpPr/>
          <p:nvPr/>
        </p:nvSpPr>
        <p:spPr>
          <a:xfrm>
            <a:off x="4251960" y="1444752"/>
            <a:ext cx="1691640" cy="384048"/>
          </a:xfrm>
          <a:prstGeom prst="roundRect">
            <a:avLst>
              <a:gd name="adj" fmla="val 3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4251960" y="1517904"/>
            <a:ext cx="1691640" cy="2154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50" b="1" u="none">
                <a:solidFill>
                  <a:srgbClr val="FFFFFF"/>
                </a:solidFill>
                <a:latin typeface="Arial"/>
              </a:rPr>
              <a:t>3. PRE-PROCESS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311396" y="2110030"/>
            <a:ext cx="1545336" cy="67197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u="none">
                <a:solidFill>
                  <a:srgbClr val="0B132B"/>
                </a:solidFill>
                <a:latin typeface="Arial"/>
              </a:rPr>
              <a:t>OpenCV (cv2) Engine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00" b="0" u="none">
                <a:solidFill>
                  <a:srgbClr val="1E293B"/>
                </a:solidFill>
                <a:latin typeface="Arial"/>
              </a:rPr>
              <a:t>Perspective deskewing,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00" b="0" u="none">
                <a:solidFill>
                  <a:srgbClr val="1E293B"/>
                </a:solidFill>
                <a:latin typeface="Arial"/>
              </a:rPr>
              <a:t>contrast &amp; DPI scaling</a:t>
            </a:r>
          </a:p>
        </p:txBody>
      </p:sp>
      <p:sp>
        <p:nvSpPr>
          <p:cNvPr id="17425" name="Right Arrow 17424"/>
          <p:cNvSpPr/>
          <p:nvPr/>
        </p:nvSpPr>
        <p:spPr>
          <a:xfrm>
            <a:off x="5971032" y="2299716"/>
            <a:ext cx="173736" cy="146304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6" name="Rounded Rectangle 17425"/>
          <p:cNvSpPr/>
          <p:nvPr/>
        </p:nvSpPr>
        <p:spPr>
          <a:xfrm>
            <a:off x="6172200" y="1444752"/>
            <a:ext cx="16916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3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7" name="Rounded Rectangle 17426"/>
          <p:cNvSpPr/>
          <p:nvPr/>
        </p:nvSpPr>
        <p:spPr>
          <a:xfrm>
            <a:off x="6172200" y="1444752"/>
            <a:ext cx="1691640" cy="384048"/>
          </a:xfrm>
          <a:prstGeom prst="roundRect">
            <a:avLst>
              <a:gd name="adj" fmla="val 3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6172200" y="1517904"/>
            <a:ext cx="1691640" cy="2154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50" b="1" u="none">
                <a:solidFill>
                  <a:srgbClr val="FFFFFF"/>
                </a:solidFill>
                <a:latin typeface="Arial"/>
              </a:rPr>
              <a:t>4. VISION OCR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231636" y="2101151"/>
            <a:ext cx="1545336" cy="67197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u="none">
                <a:solidFill>
                  <a:srgbClr val="0B132B"/>
                </a:solidFill>
                <a:latin typeface="Arial"/>
              </a:rPr>
              <a:t>Gemini Flash-Lite</a:t>
            </a:r>
            <a:endParaRPr sz="1400" b="0" i="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00" b="0" u="none">
                <a:solidFill>
                  <a:srgbClr val="1E293B"/>
                </a:solidFill>
                <a:latin typeface="Arial"/>
              </a:rPr>
              <a:t>+ PaddleOCR engine,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00" b="0" u="none">
                <a:solidFill>
                  <a:srgbClr val="1E293B"/>
                </a:solidFill>
                <a:latin typeface="Arial"/>
              </a:rPr>
              <a:t>dot-matrix text reading</a:t>
            </a:r>
          </a:p>
        </p:txBody>
      </p:sp>
      <p:sp>
        <p:nvSpPr>
          <p:cNvPr id="17430" name="Right Arrow 17429"/>
          <p:cNvSpPr/>
          <p:nvPr/>
        </p:nvSpPr>
        <p:spPr>
          <a:xfrm>
            <a:off x="7891272" y="2299716"/>
            <a:ext cx="173736" cy="146304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1" name="Rounded Rectangle 17430"/>
          <p:cNvSpPr/>
          <p:nvPr/>
        </p:nvSpPr>
        <p:spPr>
          <a:xfrm>
            <a:off x="8092440" y="1444752"/>
            <a:ext cx="16916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3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2" name="Rounded Rectangle 17431"/>
          <p:cNvSpPr/>
          <p:nvPr/>
        </p:nvSpPr>
        <p:spPr>
          <a:xfrm>
            <a:off x="8092440" y="1444752"/>
            <a:ext cx="1691640" cy="384048"/>
          </a:xfrm>
          <a:prstGeom prst="roundRect">
            <a:avLst>
              <a:gd name="adj" fmla="val 3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8092440" y="1517904"/>
            <a:ext cx="1691640" cy="2154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50" b="1" u="none">
                <a:solidFill>
                  <a:srgbClr val="FFFFFF"/>
                </a:solidFill>
                <a:latin typeface="Arial"/>
              </a:rPr>
              <a:t>5. LEGAL ENGINE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165592" y="2004189"/>
            <a:ext cx="1545336" cy="88742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u="none">
                <a:solidFill>
                  <a:srgbClr val="0B132B"/>
                </a:solidFill>
                <a:latin typeface="Arial"/>
              </a:rPr>
              <a:t>LMPC Rules 2011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00" b="0" u="none">
                <a:solidFill>
                  <a:srgbClr val="1E293B"/>
                </a:solidFill>
                <a:latin typeface="Arial"/>
              </a:rPr>
              <a:t>Rule 6, Rule 7 Table 1,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00" b="0" u="none">
                <a:solidFill>
                  <a:srgbClr val="1E293B"/>
                </a:solidFill>
                <a:latin typeface="Arial"/>
              </a:rPr>
              <a:t>Sec 18/36 compounding</a:t>
            </a:r>
          </a:p>
        </p:txBody>
      </p:sp>
      <p:sp>
        <p:nvSpPr>
          <p:cNvPr id="17435" name="Right Arrow 17434"/>
          <p:cNvSpPr/>
          <p:nvPr/>
        </p:nvSpPr>
        <p:spPr>
          <a:xfrm>
            <a:off x="9811511" y="2299716"/>
            <a:ext cx="173736" cy="146304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6" name="Rounded Rectangle 17435"/>
          <p:cNvSpPr/>
          <p:nvPr/>
        </p:nvSpPr>
        <p:spPr>
          <a:xfrm>
            <a:off x="10012680" y="1444752"/>
            <a:ext cx="16916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3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7" name="Rounded Rectangle 17436"/>
          <p:cNvSpPr/>
          <p:nvPr/>
        </p:nvSpPr>
        <p:spPr>
          <a:xfrm>
            <a:off x="10012680" y="1444752"/>
            <a:ext cx="1691640" cy="384048"/>
          </a:xfrm>
          <a:prstGeom prst="roundRect">
            <a:avLst>
              <a:gd name="adj" fmla="val 3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10012680" y="1517904"/>
            <a:ext cx="1691640" cy="2154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50" b="1" u="none">
                <a:solidFill>
                  <a:srgbClr val="FFFFFF"/>
                </a:solidFill>
                <a:latin typeface="Arial"/>
              </a:rPr>
              <a:t>6. NOTICE &amp; REPO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0061448" y="1986587"/>
            <a:ext cx="1545336" cy="88742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u="none">
                <a:solidFill>
                  <a:srgbClr val="0B132B"/>
                </a:solidFill>
                <a:latin typeface="Arial"/>
              </a:rPr>
              <a:t>ReportLab PDF Notice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00" b="0" u="none">
                <a:solidFill>
                  <a:srgbClr val="1E293B"/>
                </a:solidFill>
                <a:latin typeface="Arial"/>
              </a:rPr>
              <a:t>Form 1 seizure memo,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00" b="0" u="none">
                <a:solidFill>
                  <a:srgbClr val="1E293B"/>
                </a:solidFill>
                <a:latin typeface="Arial"/>
              </a:rPr>
              <a:t>4-stage aging buckets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65760" y="3529584"/>
            <a:ext cx="11430000" cy="24622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spc="120" dirty="0">
                <a:solidFill>
                  <a:srgbClr val="028090"/>
                </a:solidFill>
                <a:latin typeface="Calibri"/>
              </a:rPr>
              <a:t>TECHNOLOGY STACK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411480" y="3840480"/>
            <a:ext cx="2231136" cy="1051560"/>
          </a:xfrm>
          <a:prstGeom prst="roundRect">
            <a:avLst>
              <a:gd name="adj" fmla="val 9000"/>
            </a:avLst>
          </a:prstGeom>
          <a:solidFill>
            <a:srgbClr val="E1F2F3"/>
          </a:solidFill>
          <a:ln w="15875">
            <a:solidFill>
              <a:srgbClr val="C3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42" name="TextBox 17441"/>
          <p:cNvSpPr txBox="1"/>
          <p:nvPr/>
        </p:nvSpPr>
        <p:spPr>
          <a:xfrm>
            <a:off x="502920" y="3959352"/>
            <a:ext cx="2048255" cy="71045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 spc="120">
                <a:solidFill>
                  <a:srgbClr val="1E2761"/>
                </a:solidFill>
                <a:latin typeface="Calibri"/>
              </a:rPr>
              <a:t>FRONTEND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React.js + Vite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Tailwind CSS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2779776" y="3840480"/>
            <a:ext cx="2231136" cy="1051560"/>
          </a:xfrm>
          <a:prstGeom prst="roundRect">
            <a:avLst>
              <a:gd name="adj" fmla="val 9000"/>
            </a:avLst>
          </a:prstGeom>
          <a:solidFill>
            <a:srgbClr val="EEF3FA"/>
          </a:solidFill>
          <a:ln w="15875">
            <a:solidFill>
              <a:srgbClr val="C3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44" name="TextBox 17443"/>
          <p:cNvSpPr txBox="1"/>
          <p:nvPr/>
        </p:nvSpPr>
        <p:spPr>
          <a:xfrm>
            <a:off x="2871216" y="3959352"/>
            <a:ext cx="2048255" cy="71045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 spc="120">
                <a:solidFill>
                  <a:srgbClr val="1E2761"/>
                </a:solidFill>
                <a:latin typeface="Calibri"/>
              </a:rPr>
              <a:t>BACKEND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Python + FastAPI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REST APIs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5148072" y="3840480"/>
            <a:ext cx="2231136" cy="1051560"/>
          </a:xfrm>
          <a:prstGeom prst="roundRect">
            <a:avLst>
              <a:gd name="adj" fmla="val 9000"/>
            </a:avLst>
          </a:prstGeom>
          <a:solidFill>
            <a:srgbClr val="E1F2F3"/>
          </a:solidFill>
          <a:ln w="15875">
            <a:solidFill>
              <a:srgbClr val="C3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46" name="TextBox 17445"/>
          <p:cNvSpPr txBox="1"/>
          <p:nvPr/>
        </p:nvSpPr>
        <p:spPr>
          <a:xfrm>
            <a:off x="5239512" y="3959352"/>
            <a:ext cx="2048255" cy="71045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 spc="120">
                <a:solidFill>
                  <a:srgbClr val="1E2761"/>
                </a:solidFill>
                <a:latin typeface="Calibri"/>
              </a:rPr>
              <a:t>DATABASE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Supabase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(Postgres + Storage + Auth)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7516367" y="3840480"/>
            <a:ext cx="2231136" cy="1051560"/>
          </a:xfrm>
          <a:prstGeom prst="roundRect">
            <a:avLst>
              <a:gd name="adj" fmla="val 9000"/>
            </a:avLst>
          </a:prstGeom>
          <a:solidFill>
            <a:srgbClr val="EEF3FA"/>
          </a:solidFill>
          <a:ln w="15875">
            <a:solidFill>
              <a:srgbClr val="C3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48" name="TextBox 17447"/>
          <p:cNvSpPr txBox="1"/>
          <p:nvPr/>
        </p:nvSpPr>
        <p:spPr>
          <a:xfrm>
            <a:off x="7607807" y="3959352"/>
            <a:ext cx="2048255" cy="71045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 spc="120">
                <a:solidFill>
                  <a:srgbClr val="1E2761"/>
                </a:solidFill>
                <a:latin typeface="Calibri"/>
              </a:rPr>
              <a:t>THE BRAIN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Google Gemini Flash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+ PaddleOCR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9884663" y="3840480"/>
            <a:ext cx="2231136" cy="1051560"/>
          </a:xfrm>
          <a:prstGeom prst="roundRect">
            <a:avLst>
              <a:gd name="adj" fmla="val 9000"/>
            </a:avLst>
          </a:prstGeom>
          <a:solidFill>
            <a:srgbClr val="E1F2F3"/>
          </a:solidFill>
          <a:ln w="15875">
            <a:solidFill>
              <a:srgbClr val="C3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50" name="TextBox 17449"/>
          <p:cNvSpPr txBox="1"/>
          <p:nvPr/>
        </p:nvSpPr>
        <p:spPr>
          <a:xfrm>
            <a:off x="9976103" y="3959352"/>
            <a:ext cx="2048255" cy="71045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 spc="120">
                <a:solidFill>
                  <a:srgbClr val="1E2761"/>
                </a:solidFill>
                <a:latin typeface="Calibri"/>
              </a:rPr>
              <a:t>HOSTING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Vercel (web)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Render (API)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411480" y="5120640"/>
            <a:ext cx="1135684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52" name="TextBox 17451"/>
          <p:cNvSpPr txBox="1"/>
          <p:nvPr/>
        </p:nvSpPr>
        <p:spPr>
          <a:xfrm>
            <a:off x="566928" y="5147334"/>
            <a:ext cx="11064240" cy="964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1" u="none">
                <a:solidFill>
                  <a:srgbClr val="0B132B"/>
                </a:solidFill>
                <a:latin typeface="Arial"/>
              </a:rPr>
              <a:t>METHODOLOGY &amp; PRODUCTION IMPLEMENTATION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Microservices Architecture: Decoupled client-server design scaling horizontally with zero state bottlenecks.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Configurable Statutory Rule Matrix: Legal rules stored as dynamic parameters—updates instantly without redeploying code.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Multi-Stage Resilient Parser: Built-in json-repair &amp; auto-healing eliminates errors on curved, reflective, or dot-matrix packaging.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50" b="1" u="none">
                <a:solidFill>
                  <a:srgbClr val="0B132B"/>
                </a:solidFill>
                <a:latin typeface="Arial"/>
              </a:rPr>
              <a:t>• Working Prototype Status: </a:t>
            </a:r>
            <a:r>
              <a:rPr sz="950" b="1" u="none">
                <a:solidFill>
                  <a:srgbClr val="059669"/>
                </a:solidFill>
                <a:latin typeface="Arial"/>
              </a:rPr>
              <a:t>100% Operational &amp; Deployed Live — </a:t>
            </a:r>
            <a:r>
              <a:rPr sz="950" b="1" u="sng">
                <a:solidFill>
                  <a:srgbClr val="0284C7"/>
                </a:solidFill>
                <a:latin typeface="Arial"/>
                <a:hlinkClick r:id="rId4"/>
              </a:rPr>
              <a:t>https://prototype-complisca.vercel.app/</a:t>
            </a:r>
            <a:r>
              <a:rPr sz="950" b="1" u="none">
                <a:solidFill>
                  <a:srgbClr val="0B132B"/>
                </a:solidFill>
                <a:latin typeface="Arial"/>
              </a:rPr>
              <a:t>  |  GitHub: </a:t>
            </a:r>
            <a:r>
              <a:rPr sz="950" b="1" u="sng">
                <a:solidFill>
                  <a:srgbClr val="0284C7"/>
                </a:solidFill>
                <a:latin typeface="Arial"/>
                <a:hlinkClick r:id="rId5"/>
              </a:rPr>
              <a:t>https://github.com/mufaddalbatti53/prototype-complisca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1207008"/>
            <a:ext cx="2770632" cy="1207008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1335024"/>
            <a:ext cx="2587751" cy="90024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2200" b="1" u="none">
                <a:solidFill>
                  <a:srgbClr val="0284C7"/>
                </a:solidFill>
                <a:latin typeface="Arial"/>
              </a:rPr>
              <a:t>~10 s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50" b="1" u="none">
                <a:solidFill>
                  <a:srgbClr val="0B132B"/>
                </a:solidFill>
                <a:latin typeface="Arial"/>
              </a:rPr>
              <a:t>End-to-End Pipeline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00" b="0" u="none">
                <a:solidFill>
                  <a:srgbClr val="475569"/>
                </a:solidFill>
                <a:latin typeface="Arial"/>
              </a:rPr>
              <a:t>Photo to Form 1 Notice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355848" y="1207008"/>
            <a:ext cx="2770632" cy="1207008"/>
          </a:xfrm>
          <a:prstGeom prst="roundRect">
            <a:avLst>
              <a:gd name="adj" fmla="val 9000"/>
            </a:avLst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3447288" y="1335024"/>
            <a:ext cx="2587751" cy="90024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2200" b="1" u="none">
                <a:solidFill>
                  <a:srgbClr val="059669"/>
                </a:solidFill>
                <a:latin typeface="Arial"/>
              </a:rPr>
              <a:t>&lt; ₹0.05</a:t>
            </a:r>
            <a:endParaRPr sz="2800" b="1" i="0" dirty="0">
              <a:solidFill>
                <a:srgbClr val="FFFFFF"/>
              </a:solidFill>
              <a:latin typeface="Georgia"/>
            </a:endParaRP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50" b="1" u="none">
                <a:solidFill>
                  <a:srgbClr val="0B132B"/>
                </a:solidFill>
                <a:latin typeface="Arial"/>
              </a:rPr>
              <a:t>Cost per Audit Scan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00" b="0" u="none">
                <a:solidFill>
                  <a:srgbClr val="475569"/>
                </a:solidFill>
                <a:latin typeface="Arial"/>
              </a:rPr>
              <a:t>Optimized token pipeline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300216" y="1207008"/>
            <a:ext cx="2770632" cy="1207008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6391655" y="1335024"/>
            <a:ext cx="2587751" cy="90024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2200" b="1" u="none">
                <a:solidFill>
                  <a:srgbClr val="0284C7"/>
                </a:solidFill>
                <a:latin typeface="Arial"/>
              </a:rPr>
              <a:t>96%+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50" b="1" u="none">
                <a:solidFill>
                  <a:srgbClr val="0B132B"/>
                </a:solidFill>
                <a:latin typeface="Arial"/>
              </a:rPr>
              <a:t>Field Compliance Accuracy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00" b="0" u="none">
                <a:solidFill>
                  <a:srgbClr val="475569"/>
                </a:solidFill>
                <a:latin typeface="Arial"/>
              </a:rPr>
              <a:t>On Indian retail packaging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9244584" y="1207008"/>
            <a:ext cx="2770632" cy="1207008"/>
          </a:xfrm>
          <a:prstGeom prst="roundRect">
            <a:avLst>
              <a:gd name="adj" fmla="val 9000"/>
            </a:avLst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9336024" y="1335024"/>
            <a:ext cx="2587751" cy="90024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2200" b="1" u="none">
                <a:solidFill>
                  <a:srgbClr val="059669"/>
                </a:solidFill>
                <a:latin typeface="Arial"/>
              </a:rPr>
              <a:t>100%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50" b="1" u="none">
                <a:solidFill>
                  <a:srgbClr val="0B132B"/>
                </a:solidFill>
                <a:latin typeface="Arial"/>
              </a:rPr>
              <a:t>Digitally Sealed Records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00" b="0" u="none">
                <a:solidFill>
                  <a:srgbClr val="475569"/>
                </a:solidFill>
                <a:latin typeface="Arial"/>
              </a:rPr>
              <a:t>Tamper-proof evidence locker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11480" y="2450592"/>
            <a:ext cx="11356848" cy="2154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1000" b="1" u="none">
                <a:solidFill>
                  <a:srgbClr val="0284C7"/>
                </a:solidFill>
                <a:latin typeface="Arial"/>
              </a:rPr>
              <a:t>Production-verified benchmarks tracked continuously on our live enforcement dashboard.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11480" y="2779776"/>
            <a:ext cx="3657600" cy="333756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594360" y="2867841"/>
            <a:ext cx="3337560" cy="31854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1" u="none">
                <a:solidFill>
                  <a:srgbClr val="0B132B"/>
                </a:solidFill>
                <a:latin typeface="Arial"/>
              </a:rPr>
              <a:t>FEASIBILITY &amp; VIABILITY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Technical: Production-ready FastAPI, OpenCV, and Gemini 3.1 Flash-Lite scale seamlessly to thousands of concurrent scans.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Cost Efficiency: Near-zero operational overhead (&lt;₹0.05/scan) via optimized flash-lite vision tokens and edge caching.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Zero-Hardware Dependency: Field officers inspect packages in ~10s via any standard smartphone browser (PWA).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Statutory Grounding: Every finding cites exact clauses under Legal Metrology Act, 2009 &amp; LMPC Rules, 2011.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224528" y="2779776"/>
            <a:ext cx="3657600" cy="333756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4407408" y="2867841"/>
            <a:ext cx="3337560" cy="31854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1" u="none">
                <a:solidFill>
                  <a:srgbClr val="0B132B"/>
                </a:solidFill>
                <a:latin typeface="Arial"/>
              </a:rPr>
              <a:t>CHALLENGES &amp; STRATEGIC SOLUTIONS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Curved &amp; Reflective Pouches → OpenCV homography deskewing &amp; multi-panel scanning reconstruct distorted labels.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Dot-Matrix Stamped Dates/MRP → Resilient OCR parsing handles faint, low-contrast dot-matrix stamping accurately.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Multilingual Indian Packaging → Dual OCR &amp; Multimodal Vision parses bilingual Hindi, English, and regional text.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Low-Bandwidth Rural Areas → Lightweight PWA payload (&lt;380 KB gzip) enables offline capture and reliable sync.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8037575" y="2779776"/>
            <a:ext cx="3730752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4" name="Rounded Rectangle 17423"/>
          <p:cNvSpPr/>
          <p:nvPr/>
        </p:nvSpPr>
        <p:spPr>
          <a:xfrm>
            <a:off x="8037575" y="2779776"/>
            <a:ext cx="3730752" cy="402336"/>
          </a:xfrm>
          <a:prstGeom prst="roundRect">
            <a:avLst>
              <a:gd name="adj" fmla="val 3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8037575" y="2835637"/>
            <a:ext cx="3730752" cy="2462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1300" b="1" u="none">
                <a:solidFill>
                  <a:srgbClr val="0B132B"/>
                </a:solidFill>
                <a:latin typeface="Arial"/>
              </a:rPr>
              <a:t>HUMAN-IN-THE-LOOP ADJUDICATION (OFFICER OVERSIGHT)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8229600" y="3251889"/>
            <a:ext cx="3346704" cy="2743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u="none">
                <a:solidFill>
                  <a:srgbClr val="0B132B"/>
                </a:solidFill>
                <a:latin typeface="Arial"/>
              </a:rPr>
              <a:t>Officers retain complete adjudicatory authority. The AI serves as an enforcement copilot, not the final judge.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0" u="none">
                <a:solidFill>
                  <a:srgbClr val="1E293B"/>
                </a:solidFill>
                <a:latin typeface="Arial"/>
              </a:rPr>
              <a:t>1. Confidence Guardrail: AI flags low-confidence readings (&lt;85%) directly for officer verification.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0" u="none">
                <a:solidFill>
                  <a:srgbClr val="1E293B"/>
                </a:solidFill>
                <a:latin typeface="Arial"/>
              </a:rPr>
              <a:t>2. Visual Evidence Overlay: Officer inspects bounding boxes, extracted strings, and physical packaging simultaneously.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0" u="none">
                <a:solidFill>
                  <a:srgbClr val="1E293B"/>
                </a:solidFill>
                <a:latin typeface="Arial"/>
              </a:rPr>
              <a:t>3. 1-Click Rectification: Officer can accept, edit, or dismiss findings; every action is logged in the audit trail.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0" u="none">
                <a:solidFill>
                  <a:srgbClr val="1E293B"/>
                </a:solidFill>
                <a:latin typeface="Arial"/>
              </a:rPr>
              <a:t>4. Court-Admissible Proof: Final Form 1 Notice contains verified officer endorsement and digital hash.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097280"/>
            <a:ext cx="11356848" cy="24622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spc="120" dirty="0">
                <a:solidFill>
                  <a:srgbClr val="028090"/>
                </a:solidFill>
                <a:latin typeface="Calibri"/>
              </a:rPr>
              <a:t>MANUAL INSPECTION  VS  COMPLISCAN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426464"/>
            <a:ext cx="5532120" cy="1874519"/>
          </a:xfrm>
          <a:prstGeom prst="roundRect">
            <a:avLst>
              <a:gd name="adj" fmla="val 7000"/>
            </a:avLst>
          </a:prstGeom>
          <a:solidFill>
            <a:srgbClr val="FDECEC"/>
          </a:solidFill>
          <a:ln w="15875">
            <a:solidFill>
              <a:srgbClr val="E7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21792" y="1572768"/>
            <a:ext cx="5120640" cy="136960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1" u="none">
                <a:solidFill>
                  <a:srgbClr val="DC2626"/>
                </a:solidFill>
                <a:latin typeface="Arial"/>
              </a:rPr>
              <a:t>MANUAL FIELD INSPECTION (CURRENT STATUS)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150" b="1" u="none">
                <a:solidFill>
                  <a:srgbClr val="0B132B"/>
                </a:solidFill>
                <a:latin typeface="Arial"/>
              </a:rPr>
              <a:t>15–20 minutes per package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Visual ruler estimation — font height errors are routinely missed.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Handwritten show-cause notices — heavy clerical and legal burden.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Paper files — difficult to track repeat offenders or compile evidence.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Frequent legal challenges due to lack of objective digital proof.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36208" y="1426464"/>
            <a:ext cx="5532120" cy="1874519"/>
          </a:xfrm>
          <a:prstGeom prst="roundRect">
            <a:avLst>
              <a:gd name="adj" fmla="val 7000"/>
            </a:avLst>
          </a:prstGeom>
          <a:solidFill>
            <a:srgbClr val="EAF7EE"/>
          </a:solidFill>
          <a:ln w="15875">
            <a:solidFill>
              <a:srgbClr val="A8D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6446520" y="1572768"/>
            <a:ext cx="5120640" cy="136960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1100" b="1" u="none">
                <a:solidFill>
                  <a:srgbClr val="059669"/>
                </a:solidFill>
                <a:latin typeface="Arial"/>
              </a:rPr>
              <a:t>WITH COMPLISCAN ENFORCEMENT ENGINE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150" b="1" u="none">
                <a:solidFill>
                  <a:srgbClr val="0B132B"/>
                </a:solidFill>
                <a:latin typeface="Arial"/>
              </a:rPr>
              <a:t>~8–10 seconds per package (&gt;98% time reduction)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Sub-millimeter digital font measurement against Rule 7 Table 1.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1-Click automated Form 1 Seizure Notice generation (PDF).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Centralized evidence locker with 4-stage aging buckets (0-60+ days).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• Court-admissible timestamped audit logs (IST UTC+05:30).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5943600" y="2267712"/>
            <a:ext cx="274320" cy="201168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411480" y="3566160"/>
            <a:ext cx="3739896" cy="16916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7" name="Rectangle 17416"/>
          <p:cNvSpPr/>
          <p:nvPr/>
        </p:nvSpPr>
        <p:spPr>
          <a:xfrm>
            <a:off x="411480" y="3566160"/>
            <a:ext cx="3739896" cy="5486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576072" y="3785615"/>
            <a:ext cx="3410712" cy="815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1" u="none">
                <a:solidFill>
                  <a:srgbClr val="0284C7"/>
                </a:solidFill>
                <a:latin typeface="Arial"/>
              </a:rPr>
              <a:t>LEGAL METROLOGY OFFICERS &amp; DoCA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10x higher inspection throughput. Automated Form 1 memo generation, repeat offender tracking, and district-wide seizure analytics.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219956" y="3566160"/>
            <a:ext cx="3739896" cy="16916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0" name="Rectangle 17419"/>
          <p:cNvSpPr/>
          <p:nvPr/>
        </p:nvSpPr>
        <p:spPr>
          <a:xfrm>
            <a:off x="4219956" y="3566160"/>
            <a:ext cx="3739896" cy="5486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4384548" y="3785615"/>
            <a:ext cx="3410712" cy="106182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1" u="none">
                <a:solidFill>
                  <a:srgbClr val="0284C7"/>
                </a:solidFill>
                <a:latin typeface="Arial"/>
              </a:rPr>
              <a:t>CONSUMER PROTECTION &amp; RIGHTS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Eliminates deceptive packaging, unfair overcharging above MRP, misleading quantity stamps, and missing consumer grievance contacts.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028431" y="3566160"/>
            <a:ext cx="3739896" cy="16916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3" name="Rectangle 17422"/>
          <p:cNvSpPr/>
          <p:nvPr/>
        </p:nvSpPr>
        <p:spPr>
          <a:xfrm>
            <a:off x="8028431" y="3566160"/>
            <a:ext cx="3739896" cy="5486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8193023" y="3785615"/>
            <a:ext cx="3410712" cy="130805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1" u="none">
                <a:solidFill>
                  <a:srgbClr val="0284C7"/>
                </a:solidFill>
                <a:latin typeface="Arial"/>
              </a:rPr>
              <a:t>MANUFACTURERS &amp; E-COMMERCE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Pre-dispatch digital compliance auditing prevents expensive packaging seizures, market recalls, and Section 36 compounding fines.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11480" y="5440680"/>
            <a:ext cx="11356848" cy="694944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640080" y="5600140"/>
            <a:ext cx="10881360" cy="43088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u="none">
                <a:solidFill>
                  <a:srgbClr val="0B132B"/>
                </a:solidFill>
                <a:latin typeface="Arial"/>
              </a:rPr>
              <a:t>Social: Restores consumer trust  •  Economic: Reduces compounding litigation &amp; enforcement costs  •  Governance: Transparent data for DoCA  •  Environment: Paperless digital notices reduce waste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SETU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289197"/>
            <a:ext cx="11356848" cy="3077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 spc="120" dirty="0">
                <a:solidFill>
                  <a:srgbClr val="028090"/>
                </a:solidFill>
                <a:latin typeface="Calibri"/>
              </a:rPr>
              <a:t>MAIN SOURCES AND TOOLS WE USED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823625"/>
            <a:ext cx="5532120" cy="12344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2" name="Rectangle 17411"/>
          <p:cNvSpPr/>
          <p:nvPr/>
        </p:nvSpPr>
        <p:spPr>
          <a:xfrm>
            <a:off x="411480" y="1823625"/>
            <a:ext cx="64008" cy="1234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30936" y="1923891"/>
            <a:ext cx="5120640" cy="1074653"/>
          </a:xfrm>
          <a:prstGeom prst="rect">
            <a:avLst/>
          </a:prstGeom>
          <a:noFill/>
        </p:spPr>
        <p:txBody>
          <a:bodyPr wrap="square" tIns="54864" bIns="54864" lIns="54864" rIns="54864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050" b="1" u="none">
                <a:solidFill>
                  <a:srgbClr val="0284C7"/>
                </a:solidFill>
                <a:latin typeface="Arial"/>
              </a:rPr>
              <a:t>Legal Metrology Act, 2009 &amp; LMPC Rules, 2011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Statutory benchmark for Section 15 (Seizure), Section 18 (Declarations), Section 36 (Penalties), and Rule 7 Table 1 (Font Height).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 u="none">
                <a:solidFill>
                  <a:srgbClr val="475569"/>
                </a:solidFill>
                <a:latin typeface="Arial"/>
              </a:rPr>
              <a:t>Ministry of Consumer Affairs, Food &amp; Public Distribution — </a:t>
            </a:r>
            <a:r>
              <a:rPr sz="850" b="1" u="sng">
                <a:solidFill>
                  <a:srgbClr val="0284C7"/>
                </a:solidFill>
                <a:latin typeface="Arial"/>
                <a:hlinkClick r:id="rId5"/>
              </a:rPr>
              <a:t>consumeraffairs.gov.in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3240945"/>
            <a:ext cx="5532120" cy="12344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5" name="Rectangle 17414"/>
          <p:cNvSpPr/>
          <p:nvPr/>
        </p:nvSpPr>
        <p:spPr>
          <a:xfrm>
            <a:off x="411480" y="3240945"/>
            <a:ext cx="64008" cy="1234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630936" y="3341211"/>
            <a:ext cx="5120640" cy="828432"/>
          </a:xfrm>
          <a:prstGeom prst="rect">
            <a:avLst/>
          </a:prstGeom>
          <a:noFill/>
        </p:spPr>
        <p:txBody>
          <a:bodyPr wrap="square" tIns="54864" bIns="54864" lIns="54864" rIns="54864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050" b="1" u="none">
                <a:solidFill>
                  <a:srgbClr val="0284C7"/>
                </a:solidFill>
                <a:latin typeface="Arial"/>
              </a:rPr>
              <a:t>Department of Consumer Affairs (DoCA) &amp; E-Commerce Rules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Guidelines for standard retail packaging, consumer redressal helplines, and LMPC (Amendment) Rules 2021 for digital marketplaces.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 u="none">
                <a:solidFill>
                  <a:srgbClr val="475569"/>
                </a:solidFill>
                <a:latin typeface="Arial"/>
              </a:rPr>
              <a:t>National Consumer Helpline (NCH) Standards — </a:t>
            </a:r>
            <a:r>
              <a:rPr sz="850" b="1" u="sng">
                <a:solidFill>
                  <a:srgbClr val="0284C7"/>
                </a:solidFill>
                <a:latin typeface="Arial"/>
                <a:hlinkClick r:id="rId10"/>
              </a:rPr>
              <a:t>consumeraffairs.nic.in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11480" y="4658265"/>
            <a:ext cx="5532120" cy="12344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8" name="Rectangle 17417"/>
          <p:cNvSpPr/>
          <p:nvPr/>
        </p:nvSpPr>
        <p:spPr>
          <a:xfrm>
            <a:off x="411480" y="4658265"/>
            <a:ext cx="64008" cy="1234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630936" y="4758531"/>
            <a:ext cx="5120640" cy="828432"/>
          </a:xfrm>
          <a:prstGeom prst="rect">
            <a:avLst/>
          </a:prstGeom>
          <a:noFill/>
        </p:spPr>
        <p:txBody>
          <a:bodyPr wrap="square" tIns="54864" bIns="54864" lIns="54864" rIns="54864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050" b="1" u="none">
                <a:solidFill>
                  <a:srgbClr val="0284C7"/>
                </a:solidFill>
                <a:latin typeface="Arial"/>
              </a:rPr>
              <a:t>PaddleOCR Multilingual Deep Learning Toolkit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Ultra-lightweight OCR architecture for text localization, angle rectification, and multi-script character recognition.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 u="none">
                <a:solidFill>
                  <a:srgbClr val="475569"/>
                </a:solidFill>
                <a:latin typeface="Arial"/>
              </a:rPr>
              <a:t>Bilingual English &amp; Devanagari Benchmarks — </a:t>
            </a:r>
            <a:r>
              <a:rPr sz="850" b="1" u="sng">
                <a:solidFill>
                  <a:srgbClr val="0284C7"/>
                </a:solidFill>
                <a:latin typeface="Arial"/>
                <a:hlinkClick r:id="rId6"/>
              </a:rPr>
              <a:t>github.com/PaddlePaddle/PaddleOCR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236208" y="1823625"/>
            <a:ext cx="5532120" cy="12344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1" name="Rectangle 17420"/>
          <p:cNvSpPr/>
          <p:nvPr/>
        </p:nvSpPr>
        <p:spPr>
          <a:xfrm>
            <a:off x="6236208" y="1823625"/>
            <a:ext cx="64008" cy="1234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6455664" y="1923891"/>
            <a:ext cx="5120640" cy="828432"/>
          </a:xfrm>
          <a:prstGeom prst="rect">
            <a:avLst/>
          </a:prstGeom>
          <a:noFill/>
        </p:spPr>
        <p:txBody>
          <a:bodyPr wrap="square" tIns="54864" bIns="54864" lIns="54864" rIns="54864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050" b="1" u="none">
                <a:solidFill>
                  <a:srgbClr val="0284C7"/>
                </a:solidFill>
                <a:latin typeface="Arial"/>
              </a:rPr>
              <a:t>Google Gemini 3.1 Flash-Lite Multimodal Vision API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High-throughput visual character recognition on curved, dot-matrix, and low-contrast consumer product packaging.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 u="none">
                <a:solidFill>
                  <a:srgbClr val="475569"/>
                </a:solidFill>
                <a:latin typeface="Arial"/>
              </a:rPr>
              <a:t>Sub-second Multimodal Inference Benchmarks — </a:t>
            </a:r>
            <a:r>
              <a:rPr sz="850" b="1" u="sng">
                <a:solidFill>
                  <a:srgbClr val="0284C7"/>
                </a:solidFill>
                <a:latin typeface="Arial"/>
                <a:hlinkClick r:id="rId11"/>
              </a:rPr>
              <a:t>ai.google.dev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236208" y="3240945"/>
            <a:ext cx="5532120" cy="12344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4" name="Rectangle 17423"/>
          <p:cNvSpPr/>
          <p:nvPr/>
        </p:nvSpPr>
        <p:spPr>
          <a:xfrm>
            <a:off x="6236208" y="3240945"/>
            <a:ext cx="64008" cy="1234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6455664" y="3341211"/>
            <a:ext cx="5120640" cy="828432"/>
          </a:xfrm>
          <a:prstGeom prst="rect">
            <a:avLst/>
          </a:prstGeom>
          <a:noFill/>
        </p:spPr>
        <p:txBody>
          <a:bodyPr wrap="square" tIns="54864" bIns="54864" lIns="54864" rIns="54864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050" b="1" u="none">
                <a:solidFill>
                  <a:srgbClr val="0284C7"/>
                </a:solidFill>
                <a:latin typeface="Arial"/>
              </a:rPr>
              <a:t>FastAPI Asynchronous Framework &amp; Computer Vision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High-performance ASGI microservices with OpenCV image deskewing, Pydantic v2 data validation, and ReportLab legal memo PDF engine.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 u="none">
                <a:solidFill>
                  <a:srgbClr val="475569"/>
                </a:solidFill>
                <a:latin typeface="Arial"/>
              </a:rPr>
              <a:t>Asynchronous Microservice Architecture — </a:t>
            </a:r>
            <a:r>
              <a:rPr sz="850" b="1" u="sng">
                <a:solidFill>
                  <a:srgbClr val="0284C7"/>
                </a:solidFill>
                <a:latin typeface="Arial"/>
                <a:hlinkClick r:id="rId8"/>
              </a:rPr>
              <a:t>fastapi.tiangolo.com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236208" y="4658265"/>
            <a:ext cx="5532120" cy="12344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7" name="Rectangle 17426"/>
          <p:cNvSpPr/>
          <p:nvPr/>
        </p:nvSpPr>
        <p:spPr>
          <a:xfrm>
            <a:off x="6236208" y="4658265"/>
            <a:ext cx="64008" cy="1234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6455664" y="4758531"/>
            <a:ext cx="5120640" cy="828432"/>
          </a:xfrm>
          <a:prstGeom prst="rect">
            <a:avLst/>
          </a:prstGeom>
          <a:noFill/>
        </p:spPr>
        <p:txBody>
          <a:bodyPr wrap="square" tIns="54864" bIns="54864" lIns="54864" rIns="54864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050" b="1" u="none">
                <a:solidFill>
                  <a:srgbClr val="0284C7"/>
                </a:solidFill>
                <a:latin typeface="Arial"/>
              </a:rPr>
              <a:t>Supabase Cloud Database &amp; Storage Infrastructure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900" b="0" u="none">
                <a:solidFill>
                  <a:srgbClr val="1E293B"/>
                </a:solidFill>
                <a:latin typeface="Arial"/>
              </a:rPr>
              <a:t>Enterprise PostgreSQL database, row-level security (RLS), tamper-evident audit logs, and encrypted digital evidence locker.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850" b="1" u="none">
                <a:solidFill>
                  <a:srgbClr val="475569"/>
                </a:solidFill>
                <a:latin typeface="Arial"/>
              </a:rPr>
              <a:t>Cloud Relational Architecture — </a:t>
            </a:r>
            <a:r>
              <a:rPr sz="850" b="1" u="sng">
                <a:solidFill>
                  <a:srgbClr val="0284C7"/>
                </a:solidFill>
                <a:latin typeface="Arial"/>
                <a:hlinkClick r:id="rId9"/>
              </a:rPr>
              <a:t>supabase.com/docs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SIH2026-IDEA-Presentation-Forma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SIH2026-IDEA-Presentation-Format</Template>
  <TotalTime>9755</TotalTime>
  <Words>990</Words>
  <Application>Microsoft Office PowerPoint</Application>
  <PresentationFormat>Widescreen</PresentationFormat>
  <Paragraphs>152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Georgia</vt:lpstr>
      <vt:lpstr>Times New Roman</vt:lpstr>
      <vt:lpstr>TradeGothic</vt:lpstr>
      <vt:lpstr>SIH2026-IDEA-Presentation-Format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Mufaddal Battiwala</cp:lastModifiedBy>
  <cp:revision>159</cp:revision>
  <cp:lastPrinted>2026-09-07T05:13:16Z</cp:lastPrinted>
  <dcterms:created xsi:type="dcterms:W3CDTF">2013-12-12T18:46:50Z</dcterms:created>
  <dcterms:modified xsi:type="dcterms:W3CDTF">2026-10-28T08:03:59Z</dcterms:modified>
  <cp:category/>
</cp:coreProperties>
</file>